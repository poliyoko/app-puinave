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315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2355B"/>
                </a:solidFill>
              </a:rPr>
              <a:t>SGODA-PUINAVE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F766E"/>
                </a:solidFill>
              </a:rPr>
              <a:t>SPB-003.2 · Plataforma de Gobierno Documental y PMO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24028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334155"/>
                </a:solidFill>
              </a:rPr>
              <a:t>Dashboard, DMP, informes, presentación y documentación técnica desde un único modelo de datos.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2377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69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</a:rPr>
              <a:t>Avance documentado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2355B"/>
                </a:solidFill>
              </a:rPr>
              <a:t>96.67%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3840480"/>
            <a:ext cx="2377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4069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</a:rPr>
              <a:t>SPB gestionados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4434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2355B"/>
                </a:solidFill>
              </a:rPr>
              <a:t>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3840480"/>
            <a:ext cx="2377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069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</a:rPr>
              <a:t>Pruebas conocidas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434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2355B"/>
                </a:solidFill>
              </a:rPr>
              <a:t>595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3840480"/>
            <a:ext cx="23774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59" y="4069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</a:rPr>
              <a:t>Fuente única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59" y="4434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2355B"/>
                </a:solidFill>
              </a:rPr>
              <a:t>PMO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355B"/>
                </a:solidFill>
              </a:rPr>
              <a:t>Dashboard Ejecutivo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6270"/>
                </a:solidFill>
              </a:rPr>
              <a:t>Vista rápida para Dirección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514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</a:rPr>
              <a:t>Entregables cerrados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766E"/>
                </a:solidFill>
              </a:rPr>
              <a:t>8/9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514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6002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</a:rPr>
              <a:t>Riesgos activos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93852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766E"/>
                </a:solidFill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371600"/>
            <a:ext cx="2514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</a:rPr>
              <a:t>Hito actual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3852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766E"/>
                </a:solidFill>
              </a:rPr>
              <a:t>SPB-003.2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19" y="1371600"/>
            <a:ext cx="2514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6002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4748B"/>
                </a:solidFill>
              </a:rPr>
              <a:t>Estado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193852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F766E"/>
                </a:solidFill>
              </a:rPr>
              <a:t>En ejecución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9260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355B"/>
                </a:solidFill>
              </a:rPr>
              <a:t>SPB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92608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355B"/>
                </a:solidFill>
              </a:rPr>
              <a:t>Propósito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9260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2355B"/>
                </a:solidFill>
              </a:rPr>
              <a:t>Estado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337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293B"/>
                </a:solidFill>
              </a:rPr>
              <a:t>SPB-001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33756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4155"/>
                </a:solidFill>
              </a:rPr>
              <a:t>Definir la estructura inicial que permite desarrollar el sistema de manera ordenada.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3375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F766E"/>
                </a:solidFill>
              </a:rPr>
              <a:t>Cerrado declarado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74903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293B"/>
                </a:solidFill>
              </a:rPr>
              <a:t>SPB-002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3749039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4155"/>
                </a:solidFill>
              </a:rPr>
              <a:t>Automatizar la construcción, validación, documentación y operación inicial del proyecto.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749039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F766E"/>
                </a:solidFill>
              </a:rPr>
              <a:t>Cerrado verificado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160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293B"/>
                </a:solidFill>
              </a:rPr>
              <a:t>SPB-003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16052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4155"/>
                </a:solidFill>
              </a:rPr>
              <a:t>Centralizar el seguimiento, la trazabilidad, la documentación y la comunicación ejecutiva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1605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F766E"/>
                </a:solidFill>
              </a:rPr>
              <a:t>En desarrollo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572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293B"/>
                </a:solidFill>
              </a:rPr>
              <a:t>SPB-004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57200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4155"/>
                </a:solidFill>
              </a:rPr>
              <a:t>Organizar, versionar y controlar documentos del proyecto y del sistema.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5720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F766E"/>
                </a:solidFill>
              </a:rPr>
              <a:t>Cerrado declarado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983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293B"/>
                </a:solidFill>
              </a:rPr>
              <a:t>SPB-005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498348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4155"/>
                </a:solidFill>
              </a:rPr>
              <a:t>Proteger la información y establecer mecanismos de auditoría y control.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983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F766E"/>
                </a:solidFill>
              </a:rPr>
              <a:t>Cerrado declarado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394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1E293B"/>
                </a:solidFill>
              </a:rPr>
              <a:t>SPB-006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5394960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334155"/>
                </a:solidFill>
              </a:rPr>
              <a:t>Incorporar capacidades de automatización avanzada e inteligencia del proyecto.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0F766E"/>
                </a:solidFill>
              </a:rPr>
              <a:t>Cerrado declarado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355B"/>
                </a:solidFill>
              </a:rPr>
              <a:t>Entregables con propósito administrativo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6270"/>
                </a:solidFill>
              </a:rPr>
              <a:t>Cada SPB se comunica por valor, no por lenguaje técnico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37560" cy="42062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55B"/>
                </a:solidFill>
              </a:rPr>
              <a:t>SPB-001 · Arquitectura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2880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</a:rPr>
              <a:t>Definir la estructura inicial que permite desarrollar el sistema de manera ordenada.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429000"/>
            <a:ext cx="2880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766E"/>
                </a:solidFill>
              </a:rPr>
              <a:t>Reduce improvisación, facilita crecimiento y permite controlar mejor los cambios.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892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E293B"/>
                </a:solidFill>
              </a:rPr>
              <a:t>Avance: 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463040"/>
            <a:ext cx="3337560" cy="42062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73736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55B"/>
                </a:solidFill>
              </a:rPr>
              <a:t>SPB-002 · Plataforma de Automatización del Desarrollo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331720"/>
            <a:ext cx="2880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</a:rPr>
              <a:t>Automatizar la construcción, validación, documentación y operación inicial del proyecto.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429000"/>
            <a:ext cx="2880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766E"/>
                </a:solidFill>
              </a:rPr>
              <a:t>Incrementa productividad, reduce errores manuales y estandariza los entregables técnicos.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892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E293B"/>
                </a:solidFill>
              </a:rPr>
              <a:t>Avance: 100%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463040"/>
            <a:ext cx="3337560" cy="420624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173736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2355B"/>
                </a:solidFill>
              </a:rPr>
              <a:t>SPB-003 · Oficina Digital de Gestión del Proyecto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331720"/>
            <a:ext cx="2880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</a:rPr>
              <a:t>Centralizar el seguimiento, la trazabilidad, la documentación y la comunicación ejecutiva del proyecto.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3429000"/>
            <a:ext cx="2880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F766E"/>
                </a:solidFill>
              </a:rPr>
              <a:t>Permite conocer el estado del proyecto, generar informes y mantener una única fuente de verdad.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489204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E293B"/>
                </a:solidFill>
              </a:rPr>
              <a:t>Avance: 70%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355B"/>
                </a:solidFill>
              </a:rPr>
              <a:t>Cómo se mantiene todo actualizado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6270"/>
                </a:solidFill>
              </a:rPr>
              <a:t>Un modelo único alimenta todas las vistas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2355B"/>
                </a:solidFill>
              </a:rPr>
              <a:t>Modelo único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2514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210312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80" y="242316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2355B"/>
                </a:solidFill>
              </a:rPr>
              <a:t>Motor de Gobierno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514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12080" y="210312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0" y="242316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2355B"/>
                </a:solidFill>
              </a:rPr>
              <a:t>Generadores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514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210312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242316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2355B"/>
                </a:solidFill>
              </a:rPr>
              <a:t>Dashboard / DMP / Informes / PowerPoint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514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F766E"/>
                </a:solidFill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2103120"/>
            <a:ext cx="1874519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0" y="2423160"/>
            <a:ext cx="1508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2355B"/>
                </a:solidFill>
              </a:rPr>
              <a:t>Repositorio GitHub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334155"/>
                </a:solidFill>
              </a:rPr>
              <a:t>La Dirección consulta información consistente porque todos los documentos se generan desde la misma fuente de datos validada.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355B"/>
                </a:solidFill>
              </a:rPr>
              <a:t>Riesgos y 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6270"/>
                </a:solidFill>
              </a:rPr>
              <a:t>Foco de gestión para la Dirección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2355B"/>
                </a:solidFill>
              </a:rPr>
              <a:t>Riesgos prioritarios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</a:rPr>
              <a:t>• Desactualización documental: Generar documentos desde el modelo único del PMO antes de cada cierre.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39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</a:rPr>
              <a:t>• Evidencia histórica incompleta en expedientes SPB-001/SPB-004 a SPB-009: Vincular expedientes completos y registrar fuente de cada evidencia.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4155"/>
                </a:solidFill>
              </a:rPr>
              <a:t>• Duplicidad entre DMP y documentos ejecutivos: Usar una única fuente de datos y generadores automatizados.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2355B"/>
                </a:solidFill>
              </a:rPr>
              <a:t>Próximos pasos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7451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4155"/>
                </a:solidFill>
              </a:rPr>
              <a:t>1. Integrar paquete en el repositorio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4155"/>
                </a:solidFill>
              </a:rPr>
              <a:t>2. Ejecutar pruebas y validaciones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2461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4155"/>
                </a:solidFill>
              </a:rPr>
              <a:t>3. Publicar SPB-003.2 en 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9319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334155"/>
                </a:solidFill>
              </a:rPr>
              <a:t>4. Mantener PMO como fuente viva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355B"/>
                </a:solidFill>
              </a:rPr>
              <a:t>Conclusión ejecutiva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56270"/>
                </a:solidFill>
              </a:rPr>
              <a:t>SPB-003.2 convierte la documentación en un sistema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2355B"/>
                </a:solidFill>
              </a:rPr>
              <a:t>El PMO Digital permite que SGODA-PUINAVE tenga seguimiento, evidencias, informes y presentación ejecutiva alineados con el repositorio y el avance real del proyecto.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246120"/>
            <a:ext cx="2331720" cy="105156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5661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F766E"/>
                </a:solidFill>
              </a:rPr>
              <a:t>Control del proyecto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3246120"/>
            <a:ext cx="2331720" cy="105156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79" y="35661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F766E"/>
                </a:solidFill>
              </a:rPr>
              <a:t>Trazabilidad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3246120"/>
            <a:ext cx="2331720" cy="105156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35661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F766E"/>
                </a:solidFill>
              </a:rPr>
              <a:t>Información actualizada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81159" y="3246120"/>
            <a:ext cx="2331720" cy="105156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19" y="3566160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F766E"/>
                </a:solidFill>
              </a:rPr>
              <a:t>Apoyo a decisiones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